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68"/>
  </p:normalViewPr>
  <p:slideViewPr>
    <p:cSldViewPr snapToGrid="0" snapToObjects="1">
      <p:cViewPr>
        <p:scale>
          <a:sx n="111" d="100"/>
          <a:sy n="111" d="100"/>
        </p:scale>
        <p:origin x="824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F6689-6AF9-F941-9A0E-86FE00D41B06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C0362-EE36-C744-911E-7349F6FC67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554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C0362-EE36-C744-911E-7349F6FC67B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18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1C0362-EE36-C744-911E-7349F6FC67B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075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9529" y="1371600"/>
            <a:ext cx="4448141" cy="15491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dirty="0" err="1"/>
              <a:t>ErgoCompass</a:t>
            </a:r>
            <a:endParaRPr dirty="0"/>
          </a:p>
          <a:p>
            <a:pPr algn="ctr">
              <a:spcBef>
                <a:spcPts val="800"/>
              </a:spcBef>
              <a:defRPr sz="2800">
                <a:solidFill>
                  <a:srgbClr val="00D2FF"/>
                </a:solidFill>
              </a:defRPr>
            </a:pPr>
            <a:r>
              <a:rPr dirty="0"/>
              <a:t>Posture </a:t>
            </a:r>
            <a:r>
              <a:rPr lang="en-GB" dirty="0"/>
              <a:t>Monitoring System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372560" y="3474720"/>
            <a:ext cx="3142079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CCCC"/>
                </a:solidFill>
              </a:defRPr>
            </a:pPr>
            <a:r>
              <a:rPr dirty="0"/>
              <a:t>TECHIN514A — Winter 2026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</a:defRPr>
            </a:pPr>
            <a:r>
              <a:rPr dirty="0"/>
              <a:t>Felix </a:t>
            </a:r>
            <a:r>
              <a:rPr lang="en-GB" dirty="0"/>
              <a:t>Du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D2FF"/>
                </a:solidFill>
              </a:defRPr>
            </a:pPr>
            <a:r>
              <a:t>GitHub: https://github.com/Felix-Jr056/TECHIN514A-Wi26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Poor sitting posture is a silent epidemic</a:t>
            </a:r>
          </a:p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t>•  80% of adults experience back pain at some point — poor posture is a leading cause</a:t>
            </a:r>
          </a:p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t>•  Office workers sit 8+ hours/day, often unaware of their posture degradation</a:t>
            </a:r>
          </a:p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t>•  Existing solutions are expensive, bulky, or require constant phone interaction</a:t>
            </a:r>
          </a:p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t>•  No real-time, ambient feedback system exists for desk workers</a:t>
            </a:r>
          </a:p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</a:defRPr>
            </a:pPr>
            <a:r>
              <a:t>•  Posture problems develop gradually — by the time you feel pain, damage is done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00D2FF"/>
                </a:solidFill>
              </a:defRPr>
            </a:pPr>
            <a:r>
              <a:rPr dirty="0" err="1"/>
              <a:t>ErgoCompass</a:t>
            </a:r>
            <a:r>
              <a:rPr dirty="0"/>
              <a:t> — A two-device wireless posture </a:t>
            </a:r>
            <a:r>
              <a:rPr lang="en-US" dirty="0"/>
              <a:t>monitoring</a:t>
            </a:r>
            <a:r>
              <a:rPr dirty="0"/>
              <a:t>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36576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t>Sensor Device (Chair Pad)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Fabric pad attached to chair back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3× FSR 406 pressure sensors (top / mid / bottom)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ADS1115 16-bit ADC for precise readings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XIAO ESP32-C3 microcontroller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BLE server — transmits at 5 Hz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t>500 mAh LiPo battery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5029200" cy="36576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rPr dirty="0"/>
              <a:t>Display Device (Desk Unit)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X27 stepper motor gauge needle (posture score)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3× </a:t>
            </a:r>
            <a:r>
              <a:rPr dirty="0" err="1"/>
              <a:t>NeoPixel</a:t>
            </a:r>
            <a:r>
              <a:rPr dirty="0"/>
              <a:t> LEDs (per-sensor feedback)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Green = good posture, Red = bad posture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One-button calibration for personalization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XIAO ESP32-C3 as BLE client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Ambient feedback — no phone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 diagram of a computer&#10;&#10;AI-generated content may be incorrect.">
            <a:extLst>
              <a:ext uri="{FF2B5EF4-FFF2-40B4-BE49-F238E27FC236}">
                <a16:creationId xmlns:a16="http://schemas.microsoft.com/office/drawing/2014/main" id="{341D805D-C04F-6E8A-4664-9EA467D11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56" y="1737360"/>
            <a:ext cx="11105981" cy="40439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Critical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2860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[ Sensor PCB — Insert Photo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22860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22402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rPr dirty="0"/>
              <a:t>[ Display</a:t>
            </a:r>
            <a:r>
              <a:rPr lang="en-GB" dirty="0"/>
              <a:t> P</a:t>
            </a:r>
            <a:r>
              <a:rPr dirty="0"/>
              <a:t>CB — Insert Photo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22402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[ Assembled Sensor Pad — Insert Photo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[ Assembled Display Unit — Insert Photo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2286000"/>
          </a:xfrm>
          <a:prstGeom prst="roundRect">
            <a:avLst/>
          </a:prstGeom>
          <a:solidFill>
            <a:srgbClr val="252542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480060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rPr dirty="0"/>
              <a:t>[ FSR 406 Sensors — Insert Photo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Signal Processing &amp;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6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rPr dirty="0"/>
              <a:t>1. Sensor-Side: ADC + Filtering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ADS1115 (±2.048V, 16-bit resolution)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Baseline subtraction at boot (10-sample average, no pressure)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lang="en-GB" dirty="0"/>
              <a:t>Noise floor: readings &lt; 200 clamped to 0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lang="en-GB" dirty="0"/>
              <a:t>EMA filter: </a:t>
            </a:r>
            <a:r>
              <a:rPr lang="el-GR" dirty="0"/>
              <a:t>α=0.1 (</a:t>
            </a:r>
            <a:r>
              <a:rPr lang="en-GB" dirty="0"/>
              <a:t>heavy smoothing for slow posture changes)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Output: 3× int16 values at 5 Hz over 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5087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rPr dirty="0"/>
              <a:t>2. Display-Side: Posture Scoring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Ideal values: Top=28000, Mid=15000, Bot=0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Per-channel deviation normalized to 0–1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Weighted combination: 35% top + 40% mid + 25% bot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Score 0.0 (good) → needle 300° | Score 1.0 (bad) → needle 240°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LED: green at ideal, linear gradient to red at deviation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89920" cy="22860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77265"/>
            <a:ext cx="10424160" cy="159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rPr dirty="0"/>
              <a:t>3. Accuracy &amp; Performance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FSR response: ~0–30000 ADC range under typical sitting pressure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Baseline calibration eliminates per-sensor DC offset </a:t>
            </a:r>
            <a:endParaRPr lang="en-US" dirty="0"/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EMA smoothing removes &gt;90% of high-frequency noise while preserving posture transitions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LED + motor update rate: real-time on each BLE notification (5 Hz)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Battery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7432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9640" y="2079434"/>
            <a:ext cx="1645920" cy="144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rPr lang="en-GB" dirty="0"/>
              <a:t>Sensor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lang="en-GB" dirty="0"/>
              <a:t>Battery: </a:t>
            </a:r>
            <a:br>
              <a:rPr lang="en-GB" dirty="0"/>
            </a:br>
            <a:r>
              <a:rPr lang="en-GB" dirty="0"/>
              <a:t>3.7V 800mAh LiPo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lang="en-GB" dirty="0"/>
              <a:t>Usage:</a:t>
            </a:r>
            <a:br>
              <a:rPr lang="en-GB" dirty="0"/>
            </a:br>
            <a:r>
              <a:rPr lang="en-GB" dirty="0"/>
              <a:t>4/12/8 h per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7432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0608" y="2022490"/>
            <a:ext cx="1645920" cy="1441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rPr lang="en-US" dirty="0"/>
              <a:t>Display</a:t>
            </a:r>
            <a:endParaRPr dirty="0"/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lang="en-GB" dirty="0"/>
              <a:t>Battery: </a:t>
            </a:r>
            <a:br>
              <a:rPr lang="en-GB" dirty="0"/>
            </a:br>
            <a:r>
              <a:rPr lang="en-GB" dirty="0"/>
              <a:t>3.7V 1200mAh LiPo</a:t>
            </a:r>
          </a:p>
          <a:p>
            <a:pPr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lang="en-GB" dirty="0"/>
              <a:t>Usage: </a:t>
            </a:r>
            <a:br>
              <a:rPr lang="en-GB" dirty="0"/>
            </a:br>
            <a:r>
              <a:rPr lang="en-GB" dirty="0"/>
              <a:t>16/4/4 h per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972800" cy="182880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0424160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00D2FF"/>
                </a:solidFill>
              </a:defRPr>
            </a:pPr>
            <a:r>
              <a:rPr dirty="0"/>
              <a:t>Estimated Battery Life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Sensor: </a:t>
            </a:r>
            <a:r>
              <a:rPr lang="en-US" dirty="0"/>
              <a:t>	 24.5 </a:t>
            </a:r>
            <a:r>
              <a:rPr dirty="0"/>
              <a:t>hours continuous use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r>
              <a:rPr dirty="0"/>
              <a:t>Display:</a:t>
            </a:r>
            <a:r>
              <a:rPr lang="en-US" dirty="0"/>
              <a:t>	</a:t>
            </a:r>
            <a:r>
              <a:rPr dirty="0"/>
              <a:t> </a:t>
            </a:r>
            <a:r>
              <a:rPr lang="en-US" dirty="0"/>
              <a:t>22.39 </a:t>
            </a:r>
            <a:r>
              <a:rPr dirty="0"/>
              <a:t>hours continuous use</a:t>
            </a:r>
            <a:endParaRPr lang="en-US" dirty="0"/>
          </a:p>
          <a:p>
            <a:pPr algn="ctr">
              <a:spcAft>
                <a:spcPts val="600"/>
              </a:spcAft>
              <a:defRPr sz="1400" b="0">
                <a:solidFill>
                  <a:srgbClr val="CCCCCC"/>
                </a:solidFill>
              </a:defRPr>
            </a:pPr>
            <a:br>
              <a:rPr lang="en-US" dirty="0"/>
            </a:br>
            <a:r>
              <a:rPr lang="en-US" dirty="0"/>
              <a:t>Extreme Using scenario: 		8 hours</a:t>
            </a:r>
            <a:endParaRPr dirty="0"/>
          </a:p>
        </p:txBody>
      </p:sp>
      <p:pic>
        <p:nvPicPr>
          <p:cNvPr id="13" name="Picture 12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1845D50A-FB7F-F5FE-2049-CE3E1C663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680" y="1488077"/>
            <a:ext cx="3078480" cy="2418806"/>
          </a:xfrm>
          <a:prstGeom prst="rect">
            <a:avLst/>
          </a:prstGeom>
        </p:spPr>
      </p:pic>
      <p:pic>
        <p:nvPicPr>
          <p:cNvPr id="15" name="Picture 14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9FF10DE0-49D8-A21E-796C-D869AFB72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528" y="1508760"/>
            <a:ext cx="3092032" cy="24188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Budget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352680"/>
              </p:ext>
            </p:extLst>
          </p:nvPr>
        </p:nvGraphicFramePr>
        <p:xfrm>
          <a:off x="1523847" y="1661160"/>
          <a:ext cx="9144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t>Est.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Microcontroller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XIAO ESP32-C3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$10.00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ADC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TI ADS1115IDGS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$3.00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dirty="0"/>
                        <a:t>Pressure 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dirty="0"/>
                        <a:t>Interlink FSR 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28</a:t>
                      </a:r>
                      <a:r>
                        <a:rPr dirty="0"/>
                        <a:t>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dirty="0"/>
                        <a:t>Stepper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X27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lang="en-US" dirty="0"/>
                        <a:t>Makerspace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dirty="0" err="1"/>
                        <a:t>NeoPixel</a:t>
                      </a:r>
                      <a:r>
                        <a:rPr dirty="0"/>
                        <a:t> LEDs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lang="en-US" dirty="0"/>
                        <a:t>1655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lang="en-US" dirty="0"/>
                        <a:t>10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5</a:t>
                      </a:r>
                      <a:r>
                        <a:rPr dirty="0"/>
                        <a:t>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dirty="0"/>
                        <a:t>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lang="en-US" dirty="0"/>
                        <a:t>Makerspace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dirty="0"/>
                        <a:t>LiPo Batteries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10</a:t>
                      </a:r>
                      <a:r>
                        <a:rPr dirty="0"/>
                        <a:t>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Custom PCBs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lang="en-US" dirty="0"/>
                        <a:t>Makerspace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Misc (resistors, connectors)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dirty="0"/>
                        <a:t>0805 /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rPr lang="en-US" dirty="0"/>
                        <a:t>Makerspace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A1A2E"/>
                          </a:solidFill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56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2200" b="1">
                <a:solidFill>
                  <a:srgbClr val="00D2FF"/>
                </a:solidFill>
              </a:defRPr>
            </a:pPr>
            <a:r>
              <a:rPr dirty="0"/>
              <a:t>▸  </a:t>
            </a:r>
            <a:r>
              <a:rPr lang="en-US" dirty="0"/>
              <a:t>More integrated design</a:t>
            </a:r>
            <a:endParaRPr dirty="0"/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rPr lang="en-GB" dirty="0"/>
              <a:t>    Mergeging seamlessly with office chairs</a:t>
            </a:r>
            <a:endParaRPr dirty="0"/>
          </a:p>
          <a:p>
            <a:pPr>
              <a:spcBef>
                <a:spcPts val="1200"/>
              </a:spcBef>
              <a:defRPr sz="2200" b="1">
                <a:solidFill>
                  <a:srgbClr val="00D2FF"/>
                </a:solidFill>
              </a:defRPr>
            </a:pPr>
            <a:r>
              <a:rPr dirty="0"/>
              <a:t>▸  Mobile App Integration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rPr dirty="0"/>
              <a:t>    Companion app for posture history, trends, and configurable alert</a:t>
            </a:r>
            <a:r>
              <a:rPr lang="en-US" dirty="0"/>
              <a:t>s</a:t>
            </a:r>
            <a:endParaRPr dirty="0"/>
          </a:p>
          <a:p>
            <a:pPr>
              <a:spcBef>
                <a:spcPts val="1200"/>
              </a:spcBef>
              <a:defRPr sz="2200" b="1">
                <a:solidFill>
                  <a:srgbClr val="00D2FF"/>
                </a:solidFill>
              </a:defRPr>
            </a:pPr>
            <a:r>
              <a:rPr dirty="0"/>
              <a:t>▸  Machine Learning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rPr dirty="0"/>
              <a:t>    On-device posture classification (good/slouch/lean) trained on collected FSR data</a:t>
            </a:r>
          </a:p>
          <a:p>
            <a:pPr>
              <a:spcBef>
                <a:spcPts val="1200"/>
              </a:spcBef>
              <a:defRPr sz="2200" b="1">
                <a:solidFill>
                  <a:srgbClr val="00D2FF"/>
                </a:solidFill>
              </a:defRPr>
            </a:pPr>
            <a:r>
              <a:rPr dirty="0"/>
              <a:t>▸  Haptic Feedback</a:t>
            </a:r>
          </a:p>
          <a:p>
            <a:pPr>
              <a:spcAft>
                <a:spcPts val="400"/>
              </a:spcAft>
              <a:defRPr sz="1600">
                <a:solidFill>
                  <a:srgbClr val="CCCCCC"/>
                </a:solidFill>
              </a:defRPr>
            </a:pPr>
            <a:r>
              <a:rPr dirty="0"/>
              <a:t>    Add vibration motor to sensor pad for immediate tactile posture correction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75FA1-3C81-E6E6-AE46-3C7A18EA8AA5}"/>
              </a:ext>
            </a:extLst>
          </p:cNvPr>
          <p:cNvSpPr txBox="1"/>
          <p:nvPr/>
        </p:nvSpPr>
        <p:spPr>
          <a:xfrm>
            <a:off x="731520" y="27432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/>
              <a:t>Video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0DC8B8-5DE8-2F8B-096A-472700490FF9}"/>
              </a:ext>
            </a:extLst>
          </p:cNvPr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625</Words>
  <Application>Microsoft Macintosh PowerPoint</Application>
  <PresentationFormat>Widescreen</PresentationFormat>
  <Paragraphs>117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Felix Jr.</cp:lastModifiedBy>
  <cp:revision>5</cp:revision>
  <dcterms:created xsi:type="dcterms:W3CDTF">2013-01-27T09:14:16Z</dcterms:created>
  <dcterms:modified xsi:type="dcterms:W3CDTF">2026-03-16T10:27:01Z</dcterms:modified>
  <cp:category/>
</cp:coreProperties>
</file>